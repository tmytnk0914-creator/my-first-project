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Noto Sans JP"/>
              </a:rPr>
              <a:t>GAME MARKETING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Noto Sans JP"/>
              </a:rPr>
              <a:t>新作ゲーム</a:t>
            </a:r>
          </a:p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Noto Sans JP"/>
              </a:rPr>
              <a:t>ローンチ・マーケティング戦略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2D3EE"/>
                </a:solidFill>
                <a:latin typeface="Noto Sans JP"/>
              </a:rPr>
              <a:t>コミュニティ起点 × データドリブンで、混雑市場を勝ち抜く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Noto Sans JP"/>
              </a:rPr>
              <a:t>マーケティングチーム /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Noto Sans JP"/>
              </a:rPr>
              <a:t>HOOK ・ 市場の現状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JP"/>
              </a:rPr>
              <a:t>今、ゲーム市場で起きていること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22D3EE"/>
                </a:solidFill>
                <a:latin typeface="Noto Sans JP"/>
              </a:rPr>
              <a:t>90%+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Noto Sans JP"/>
              </a:rPr>
              <a:t>の新作が初週で埋もれ、</a:t>
            </a:r>
            <a:br/>
            <a:r>
              <a:t>認知を獲得できない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560320"/>
            <a:ext cx="58521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E2E8F0"/>
                </a:solidFill>
                <a:latin typeface="Noto Sans JP"/>
              </a:rPr>
              <a:t>● 年間リリース数は過去5年で約2倍に増加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2E8F0"/>
                </a:solidFill>
                <a:latin typeface="Noto Sans JP"/>
              </a:rPr>
              <a:t>● ユーザーの可処分時間とウィッシュリストは飽和状態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2E8F0"/>
                </a:solidFill>
                <a:latin typeface="Noto Sans JP"/>
              </a:rPr>
              <a:t>● 「作れば売れる」時代は終わった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Noto Sans JP"/>
              </a:rPr>
              <a:t>▍ 危機感を共有し、聴衆を引き込む。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Noto Sans JP"/>
              </a:rPr>
              <a:t>PROBLEM ・ 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JP"/>
              </a:rPr>
              <a:t>私たちが直面する課題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E2E8F0"/>
                </a:solidFill>
                <a:latin typeface="Noto Sans JP"/>
              </a:rPr>
              <a:t>● 開発品質は高いが、発売前の認知がほぼゼロ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2E8F0"/>
                </a:solidFill>
                <a:latin typeface="Noto Sans JP"/>
              </a:rPr>
              <a:t>● 広告に頼った獲得は、CAC（獲得コスト）が高騰し続けている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2E8F0"/>
                </a:solidFill>
                <a:latin typeface="Noto Sans JP"/>
              </a:rPr>
              <a:t>● 発売後のスタートダッシュ依存はリスクが大きい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Noto Sans JP"/>
              </a:rPr>
              <a:t>▍ 「良いゲーム＝売れる」ではない構造を明示する。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Noto Sans JP"/>
              </a:rPr>
              <a:t>INSIGHT ・ 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JP"/>
              </a:rPr>
              <a:t>データが示す本質的な洞察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5943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E2E8F0"/>
                </a:solidFill>
                <a:latin typeface="Noto Sans JP"/>
              </a:rPr>
              <a:t>● 成功タイトルの共通点は発売“前”のコミュニティ規模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2E8F0"/>
                </a:solidFill>
                <a:latin typeface="Noto Sans JP"/>
              </a:rPr>
              <a:t>● ウィッシュリスト登録数と初週売上に強い相関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2E8F0"/>
                </a:solidFill>
                <a:latin typeface="Noto Sans JP"/>
              </a:rPr>
              <a:t>● 勝負は発売日ではなく、発売6か月前から始まる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2468880"/>
            <a:ext cx="4297680" cy="25603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Noto Sans JP"/>
              </a:rPr>
              <a:t>視点の転換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Noto Sans JP"/>
              </a:rPr>
              <a:t>「発売日」から「育成期間」へ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22D3EE"/>
                </a:solidFill>
                <a:latin typeface="Noto Sans JP"/>
              </a:rPr>
              <a:t>前 → 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Noto Sans JP"/>
              </a:rPr>
              <a:t>▍ 聴衆の視点を転換させる、最重要スライド。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Noto Sans JP"/>
              </a:rPr>
              <a:t>SOLUTION ・ 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JP"/>
              </a:rPr>
              <a:t>マーケティング戦略の全体像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3566160" cy="26517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Noto Sans JP"/>
              </a:rPr>
              <a:t>① コミュニティ育成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Noto Sans JP"/>
              </a:rPr>
              <a:t>発売前からファンを育て、自然拡散の土台をつくる。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2468880"/>
            <a:ext cx="3566160" cy="26517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Noto Sans JP"/>
              </a:rPr>
              <a:t>② データドリブン獲得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Noto Sans JP"/>
              </a:rPr>
              <a:t>指標を週次で回し、CACを継続的に最適化する。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468880"/>
            <a:ext cx="3566160" cy="26517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Noto Sans JP"/>
              </a:rPr>
              <a:t>③ 持続的エンゲージメント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Noto Sans JP"/>
              </a:rPr>
              <a:t>発売後も関係を維持し、LTVを最大化する。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Noto Sans JP"/>
              </a:rPr>
              <a:t>▍ 一貫したブランドメッセージで全フェーズを貫く。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Noto Sans JP"/>
              </a:rPr>
              <a:t>SOLUTION ・ 詳細1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JP"/>
              </a:rPr>
              <a:t>ターゲット &amp; ポジショニング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E2E8F0"/>
                </a:solidFill>
                <a:latin typeface="Noto Sans JP"/>
              </a:rPr>
              <a:t>● 主要ターゲット: コアゲーマー（18〜34歳）＋ 配信視聴層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E2E8F0"/>
                </a:solidFill>
                <a:latin typeface="Noto Sans JP"/>
              </a:rPr>
              <a:t>● ポジショニング: 「ジャンル × 独自メカニクス」で差別化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E2E8F0"/>
                </a:solidFill>
                <a:latin typeface="Noto Sans JP"/>
              </a:rPr>
              <a:t>● 競合マップ上の空白地帯を狙う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E2E8F0"/>
                </a:solidFill>
                <a:latin typeface="Noto Sans JP"/>
              </a:rPr>
              <a:t>● 一言で言えるバリュープロポジションを定義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Noto Sans JP"/>
              </a:rPr>
              <a:t>▍ 「誰に・なぜ刺さるか」をペルソナとマップで語る。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Noto Sans JP"/>
              </a:rPr>
              <a:t>SOLUTION ・ 詳細2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JP"/>
              </a:rPr>
              <a:t>チャネル &amp; コンテンツ戦略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3566160" cy="201168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Noto Sans JP"/>
              </a:rPr>
              <a:t>Earned（拡散）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Noto Sans JP"/>
              </a:rPr>
              <a:t>配信者シーディング、Discordコミュニティ運営。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2377440"/>
            <a:ext cx="3566160" cy="201168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Noto Sans JP"/>
              </a:rPr>
              <a:t>Owned（資産）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Noto Sans JP"/>
              </a:rPr>
              <a:t>ストアページ最適化、開発ブログ、SNS。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377440"/>
            <a:ext cx="3566160" cy="201168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Noto Sans JP"/>
              </a:rPr>
              <a:t>Paid（刈り取り）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Noto Sans JP"/>
              </a:rPr>
              <a:t>リターゲティング中心の効率的広告運用。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E2E8F0"/>
                </a:solidFill>
                <a:latin typeface="Noto Sans JP"/>
              </a:rPr>
              <a:t>● コンテンツ設計: 開発舞台裏 → デモ → トレーラー の段階展開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Noto Sans JP"/>
              </a:rPr>
              <a:t>▍ 「無料で広がる仕組み」を先に作り、広告は後半に集中。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Noto Sans JP"/>
              </a:rPr>
              <a:t>SOLUTION ・ 詳細3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JP"/>
              </a:rPr>
              <a:t>ローンチ・タイムライン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3566160" cy="237744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Noto Sans JP"/>
              </a:rPr>
              <a:t>Phase 1 ・ 6〜3か月前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Noto Sans JP"/>
              </a:rPr>
              <a:t>認知 &amp; ウィッシュリスト獲得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2560320"/>
            <a:ext cx="3566160" cy="237744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Noto Sans JP"/>
              </a:rPr>
              <a:t>Phase 2 ・ 3〜0か月前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Noto Sans JP"/>
              </a:rPr>
              <a:t>デモ配信 &amp; 予約促進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560320"/>
            <a:ext cx="3566160" cy="237744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Noto Sans JP"/>
              </a:rPr>
              <a:t>Phase 3 ・ 発売〜3か月後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Noto Sans JP"/>
              </a:rPr>
              <a:t>ローンチ施策 &amp; レビュー &amp; 継続運用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Noto Sans JP"/>
              </a:rPr>
              <a:t>▍ 各フェーズにマイルストーンと担当を明記する。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Noto Sans JP"/>
              </a:rPr>
              <a:t>PROOF ・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JP"/>
              </a:rPr>
              <a:t>KPIと測定フレームワーク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46888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772400"/>
              </a:tblGrid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00" b="1">
                          <a:solidFill>
                            <a:srgbClr val="22D3EE"/>
                          </a:solidFill>
                          <a:latin typeface="Noto Sans JP"/>
                        </a:rPr>
                        <a:t>区分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00" b="1">
                          <a:solidFill>
                            <a:srgbClr val="22D3EE"/>
                          </a:solidFill>
                          <a:latin typeface="Noto Sans JP"/>
                        </a:rPr>
                        <a:t>指標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00" b="0">
                          <a:solidFill>
                            <a:srgbClr val="E2E8F0"/>
                          </a:solidFill>
                          <a:latin typeface="Noto Sans JP"/>
                        </a:rPr>
                        <a:t>先行指標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00" b="0">
                          <a:solidFill>
                            <a:srgbClr val="E2E8F0"/>
                          </a:solidFill>
                          <a:latin typeface="Noto Sans JP"/>
                        </a:rPr>
                        <a:t>ウィッシュリスト数 / コミュニティ規模 / デモDL数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00" b="0">
                          <a:solidFill>
                            <a:srgbClr val="E2E8F0"/>
                          </a:solidFill>
                          <a:latin typeface="Noto Sans JP"/>
                        </a:rPr>
                        <a:t>結果指標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00" b="0">
                          <a:solidFill>
                            <a:srgbClr val="E2E8F0"/>
                          </a:solidFill>
                          <a:latin typeface="Noto Sans JP"/>
                        </a:rPr>
                        <a:t>初週売上 / CAC / ROAS / リテンション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00" b="0">
                          <a:solidFill>
                            <a:srgbClr val="E2E8F0"/>
                          </a:solidFill>
                          <a:latin typeface="Noto Sans JP"/>
                        </a:rPr>
                        <a:t>運用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500" b="0">
                          <a:solidFill>
                            <a:srgbClr val="E2E8F0"/>
                          </a:solidFill>
                          <a:latin typeface="Noto Sans JP"/>
                        </a:rPr>
                        <a:t>週次ダッシュボードでPDCAを高速回転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Noto Sans JP"/>
              </a:rPr>
              <a:t>▍ 「何をもって成功とするか」を数値で合意する。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Noto Sans JP"/>
              </a:rPr>
              <a:t>PROOF ・ 予算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JP"/>
              </a:rPr>
              <a:t>予算とリソース配分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E2E8F0"/>
                </a:solidFill>
                <a:latin typeface="Noto Sans JP"/>
              </a:rPr>
              <a:t>● 費目別配分: コミュニティ / コンテンツ / ペイド / ツール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E2E8F0"/>
                </a:solidFill>
                <a:latin typeface="Noto Sans JP"/>
              </a:rPr>
              <a:t>● 投資カーブ: 前半は育成、後半は刈り取り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E2E8F0"/>
                </a:solidFill>
                <a:latin typeface="Noto Sans JP"/>
              </a:rPr>
              <a:t>● ROIシミュレーション: 投資 → 想定売上 をレンジで提示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Noto Sans JP"/>
              </a:rPr>
              <a:t>▍ 円グラフ＋シナリオ別ROIで投資判断を後押しする。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Noto Sans JP"/>
              </a:rPr>
              <a:t>補強 ・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JP"/>
              </a:rPr>
              <a:t>リスクと対応策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5212080" cy="146304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Noto Sans JP"/>
              </a:rPr>
              <a:t>発売延期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Noto Sans JP"/>
              </a:rPr>
              <a:t>→ スケジュールにバッファを設計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2468880"/>
            <a:ext cx="5212080" cy="146304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Noto Sans JP"/>
              </a:rPr>
              <a:t>競合の同時期ローンチ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Noto Sans JP"/>
              </a:rPr>
              <a:t>→ 差別化メッセージを徹底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60520"/>
            <a:ext cx="5212080" cy="146304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Noto Sans JP"/>
              </a:rPr>
              <a:t>炎上リスク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Noto Sans JP"/>
              </a:rPr>
              <a:t>→ 危機対応フローを事前整備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4160520"/>
            <a:ext cx="5212080" cy="146304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Noto Sans JP"/>
              </a:rPr>
              <a:t>認知不足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Noto Sans JP"/>
              </a:rPr>
              <a:t>→ 早期コミュニティ施策で先回り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Noto Sans JP"/>
              </a:rPr>
              <a:t>▍ リスクを先回りで示し、戦略の信頼性を高める。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Noto Sans JP"/>
              </a:rPr>
              <a:t>CONCLUSION ・ NEXT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JP"/>
              </a:rPr>
              <a:t>ネクストアクション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E2E8F0"/>
                </a:solidFill>
                <a:latin typeface="Noto Sans JP"/>
              </a:rPr>
              <a:t>● 本日の決定事項: 戦略承認 / 予算承認 / キックオフ日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2E8F0"/>
                </a:solidFill>
                <a:latin typeface="Noto Sans JP"/>
              </a:rPr>
              <a:t>● 直近30日のアクション（担当・期日つき）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2E8F0"/>
                </a:solidFill>
                <a:latin typeface="Noto Sans JP"/>
              </a:rPr>
              <a:t>● 次回レビューのタイミングを設定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Noto Sans JP"/>
              </a:rPr>
              <a:t>▍ 明確なCTAで会議を「決定」で締める。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Noto Sans JP"/>
              </a:rP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Noto Sans JP"/>
              </a:rPr>
              <a:t>ご質問・ご意見をお願いします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Noto Sans JP"/>
              </a:rPr>
              <a:t>補足資料・詳細データは付録をご参照ください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Noto Sans JP"/>
              </a:rPr>
              <a:t>APPENDIX ・ 付録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JP"/>
              </a:rPr>
              <a:t>付録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E2E8F0"/>
                </a:solidFill>
                <a:latin typeface="Noto Sans JP"/>
              </a:rPr>
              <a:t>● 詳細データ / 競合分析 / 用語集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2E8F0"/>
                </a:solidFill>
                <a:latin typeface="Noto Sans JP"/>
              </a:rPr>
              <a:t>● 過去タイトルのベンチマーク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2E8F0"/>
                </a:solidFill>
                <a:latin typeface="Noto Sans JP"/>
              </a:rPr>
              <a:t>● 質疑応答時の根拠資料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